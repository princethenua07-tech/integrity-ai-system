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6CF548-D8AE-00C2-2ECD-91B34E64C835}" v="3" dt="2026-10-12T16:44:31.5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376CF548-D8AE-00C2-2ECD-91B34E64C835}"/>
    <pc:docChg chg="modSld">
      <pc:chgData name="Guest User" userId="" providerId="Windows Live" clId="Web-{376CF548-D8AE-00C2-2ECD-91B34E64C835}" dt="2026-10-12T16:44:31.561" v="2" actId="1076"/>
      <pc:docMkLst>
        <pc:docMk/>
      </pc:docMkLst>
      <pc:sldChg chg="modSp">
        <pc:chgData name="Guest User" userId="" providerId="Windows Live" clId="Web-{376CF548-D8AE-00C2-2ECD-91B34E64C835}" dt="2026-10-12T16:44:31.561" v="2" actId="1076"/>
        <pc:sldMkLst>
          <pc:docMk/>
          <pc:sldMk cId="0" sldId="257"/>
        </pc:sldMkLst>
        <pc:spChg chg="mod">
          <ac:chgData name="Guest User" userId="" providerId="Windows Live" clId="Web-{376CF548-D8AE-00C2-2ECD-91B34E64C835}" dt="2026-10-12T16:44:31.561" v="2" actId="1076"/>
          <ac:spMkLst>
            <pc:docMk/>
            <pc:sldMk cId="0" sldId="257"/>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DB8AB6-8588-475C-A895-DB9E42A4DF65}" type="datetimeFigureOut">
              <a:t>10/12/2026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D2DE9A-1FFA-481D-A68E-A83938E86E1B}" type="slidenum">
              <a:t>‹#›</a:t>
            </a:fld>
            <a:endParaRPr lang="en-US"/>
          </a:p>
        </p:txBody>
      </p:sp>
    </p:spTree>
    <p:extLst>
      <p:ext uri="{BB962C8B-B14F-4D97-AF65-F5344CB8AC3E}">
        <p14:creationId xmlns:p14="http://schemas.microsoft.com/office/powerpoint/2010/main" val="2648929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HINDI MEIN KYA BOLNA HAI (Viva Speaking Script):</a:t>
            </a:r>
          </a:p>
          <a:p>
            <a:r>
              <a:t>Good morning/afternoon respected professors and evaluators.</a:t>
            </a:r>
          </a:p>
          <a:p>
            <a:r>
              <a:t>Aaj hum hamara mini project present kar rahe hain jiska naam hai 'Sentinel AI - Autonomous Online Exam Proctoring System'.</a:t>
            </a:r>
          </a:p>
          <a:p>
            <a:r>
              <a:t>Yeh system online exams me hone wali cheating jaise mobile use, split screen, ya kisi dusre vyakti se baat karne ko bina kisi human invigilator ke automated AI se real-time me pakadta hai.</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HINDI MEIN KYA BOLNA HAI:</a:t>
            </a:r>
          </a:p>
          <a:p>
            <a:r>
              <a:t>Sir, online exams me sabse bada issue hota hai academic integrity ka. Students mobile use karte hain ya Google search karte hain.</a:t>
            </a:r>
          </a:p>
          <a:p>
            <a:r>
              <a:t>Human invigilators sabko ek saath monitor nahi kar sakte, aur traditional softwares heavy video servers pe bhejte hain jisse cost badhti hai aur privacy compromise hoti hai.</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HINDI MEIN KYA BOLNA HAI:</a:t>
            </a:r>
          </a:p>
          <a:p>
            <a:r>
              <a:t>Humne is samasya ka solution Edge AI ke through banaya hai.</a:t>
            </a:r>
          </a:p>
          <a:p>
            <a:r>
              <a:t>Iska sabse bada fayda yeh hai ki hume mehenge cloud servers ki zaroorat nahi padti. Sabhi AI models student ke browser me Google MediaPipe aur TensorFlow.js ki madad se locally run hote hain.</a:t>
            </a:r>
          </a:p>
          <a:p>
            <a:r>
              <a:t>Isse zero cloud cost aati hai, student ki privacy 100% safe rehti hai aur latency 30 millisecond se bhi kam hoti hai.</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HINDI MEIN KYA BOLNA HAI:</a:t>
            </a:r>
          </a:p>
          <a:p>
            <a:r>
              <a:t>Sir, architecture 4 steps me structured hai:</a:t>
            </a:r>
          </a:p>
          <a:p>
            <a:r>
              <a:t>1. Pehle student ka camera aur microphone feed aati hai.</a:t>
            </a:r>
          </a:p>
          <a:p>
            <a:r>
              <a:t>2. Fir MediaPipe aur TensorFlow models visual aur audio analysis karte hain.</a:t>
            </a:r>
          </a:p>
          <a:p>
            <a:r>
              <a:t>3. Hamara Sentinel Rule Engine check karta hai ki kya koi violation hui hai aur score deduct karta hai.</a:t>
            </a:r>
          </a:p>
          <a:p>
            <a:r>
              <a:t>4. Aur final step me watermark ke sath photographic evidence capture karke PDF certificate generate hota hai.</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HINDI MEIN KYA BOLNA HAI:</a:t>
            </a:r>
          </a:p>
          <a:p>
            <a:r>
              <a:t>Humne Google MediaPipe FaceMesh use kiya hai jo 478 3D points se head position track karta hai.</a:t>
            </a:r>
          </a:p>
          <a:p>
            <a:r>
              <a:t>TensorFlow.js COCO-SSD mobile phone aur prohibited devices detect karta hai.</a:t>
            </a:r>
          </a:p>
          <a:p>
            <a:r>
              <a:t>Web Audio API mic se human voice detect karta hai, aur HTML5 Security APIs tab switching ko rokti hain.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HINDI MEIN KYA BOLNA HAI:</a:t>
            </a:r>
          </a:p>
          <a:p>
            <a:r>
              <a:t>Exam 100% Integrity Score se shuru hota hai.</a:t>
            </a:r>
          </a:p>
          <a:p>
            <a:r>
              <a:t>Agar student phone nikalta hai toh 20 points cut hote hain. Tab switch karne par 15 points cut hote hain.</a:t>
            </a:r>
          </a:p>
          <a:p>
            <a:r>
              <a:t>Looking away par 4 points cut hote hain. Exam ke ant me agar score 90-100% rehta hai toh exam Clean maana jata hai, 60% se kam par Malpractice flag ho jata hai.</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HINDI MEIN KYA BOLNA HAI:</a:t>
            </a:r>
          </a:p>
          <a:p>
            <a:r>
              <a:t>Hamare system ki sabse powerful feature hai 'Forensic Evidence Snapshots'.</a:t>
            </a:r>
          </a:p>
          <a:p>
            <a:r>
              <a:t>Jab bhi student koi galat harkat karta hai, camera apne aap ek watermarked snapshot le kar audit log me save kar leta hai.</a:t>
            </a:r>
          </a:p>
          <a:p>
            <a:r>
              <a:t>Isse evaluation ke time teacher ke paas 100% photographic proof hota hai.</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HINDI MEIN KYA BOLNA HAI:</a:t>
            </a:r>
          </a:p>
          <a:p>
            <a:r>
              <a:t>Humne app ke andar ek dedicated 'AI Sensor Sandbox' tab banaya hai.</a:t>
            </a:r>
          </a:p>
          <a:p>
            <a:r>
              <a:t>Yahan par examiner on-the-spot har ek AI sensor ko live test kar sakte hain - jaise phone dikha kar, sar ghuma kar, ya aawaaz nikaal kar.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HINDI MEIN KYA BOLNA HAI:</a:t>
            </a:r>
          </a:p>
          <a:p>
            <a:r>
              <a:t>Hamare project ke 3 main advantages hain: Zero cloud cost, 100% student privacy, aur sub-30ms ultra-low latency.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HINDI MEIN KYA BOLNA HAI:</a:t>
            </a:r>
          </a:p>
          <a:p>
            <a:r>
              <a:t>In conclusion, Sentinel AI ek accessible, low-latency aur privacy-preserving AI proctoring platform hai.</a:t>
            </a:r>
          </a:p>
          <a:p>
            <a:r>
              <a:t>Future me hum isme Moodle LMS integration aur dual-camera mobile room scan add karenge.</a:t>
            </a:r>
          </a:p>
          <a:p>
            <a:r>
              <a:t>Thank you! Ab hum aapke sawalon (Q&amp;A) ke liye taiyar hain.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97280" y="914400"/>
            <a:ext cx="9994392" cy="5029200"/>
          </a:xfrm>
          <a:prstGeom prst="roundRect">
            <a:avLst/>
          </a:prstGeom>
          <a:solidFill>
            <a:srgbClr val="161E35"/>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45920" y="1371600"/>
            <a:ext cx="8869680" cy="4114800"/>
          </a:xfrm>
          <a:prstGeom prst="rect">
            <a:avLst/>
          </a:prstGeom>
          <a:noFill/>
        </p:spPr>
        <p:txBody>
          <a:bodyPr wrap="square">
            <a:spAutoFit/>
          </a:bodyPr>
          <a:lstStyle/>
          <a:p>
            <a:pPr>
              <a:defRPr sz="1300" b="1">
                <a:solidFill>
                  <a:srgbClr val="06B6D4"/>
                </a:solidFill>
                <a:latin typeface="Segoe UI"/>
              </a:defRPr>
            </a:pPr>
            <a:r>
              <a:t>🛡️ MINI PROJECT PRESENTATION</a:t>
            </a:r>
          </a:p>
          <a:p>
            <a:pPr>
              <a:spcBef>
                <a:spcPts val="1000"/>
              </a:spcBef>
              <a:defRPr sz="3200" b="1">
                <a:solidFill>
                  <a:srgbClr val="F8FAFC"/>
                </a:solidFill>
                <a:latin typeface="Segoe UI"/>
              </a:defRPr>
            </a:pPr>
            <a:r>
              <a:t>AI-Powered Online Exam Proctoring System</a:t>
            </a:r>
          </a:p>
          <a:p>
            <a:pPr>
              <a:spcBef>
                <a:spcPts val="800"/>
              </a:spcBef>
              <a:defRPr sz="1600">
                <a:solidFill>
                  <a:srgbClr val="94A3B8"/>
                </a:solidFill>
                <a:latin typeface="Segoe UI"/>
              </a:defRPr>
            </a:pPr>
            <a:r>
              <a:t>Automated Real-Time Malpractice Detection Using Edge Computer Vision &amp; Audio Analysis</a:t>
            </a:r>
          </a:p>
          <a:p>
            <a:pPr>
              <a:spcBef>
                <a:spcPts val="1500"/>
              </a:spcBef>
              <a:defRPr sz="1200">
                <a:solidFill>
                  <a:srgbClr val="253358"/>
                </a:solidFill>
              </a:defRPr>
            </a:pPr>
            <a:r>
              <a:t>─────────────────────────────────────────────</a:t>
            </a:r>
          </a:p>
          <a:p>
            <a:pPr>
              <a:spcBef>
                <a:spcPts val="1200"/>
              </a:spcBef>
              <a:defRPr sz="1400">
                <a:solidFill>
                  <a:srgbClr val="E2E8F0"/>
                </a:solidFill>
                <a:latin typeface="Segoe UI"/>
              </a:defRPr>
            </a:pPr>
            <a:r>
              <a:t>• Domain: Artificial Intelligence &amp; Computer Vision</a:t>
            </a:r>
            <a:br/>
            <a:r>
              <a:t>• Architecture: Client-Side Edge AI (Zero Server Cost &amp; Full Privacy)</a:t>
            </a:r>
            <a:br/>
            <a:r>
              <a:t>• Presented By: Rahul Sharma (Computer Science &amp;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320040"/>
          </a:xfrm>
          <a:prstGeom prst="rect">
            <a:avLst/>
          </a:prstGeom>
          <a:noFill/>
        </p:spPr>
        <p:txBody>
          <a:bodyPr wrap="square">
            <a:spAutoFit/>
          </a:bodyPr>
          <a:lstStyle/>
          <a:p>
            <a:pPr>
              <a:defRPr sz="1100" b="1">
                <a:solidFill>
                  <a:srgbClr val="06B6D4"/>
                </a:solidFill>
                <a:latin typeface="Segoe UI"/>
              </a:defRPr>
            </a:pPr>
            <a:r>
              <a:t>CHALLENGES IN REMOTE EDUCATION</a:t>
            </a:r>
          </a:p>
        </p:txBody>
      </p:sp>
      <p:sp>
        <p:nvSpPr>
          <p:cNvPr id="4" name="TextBox 3"/>
          <p:cNvSpPr txBox="1"/>
          <p:nvPr/>
        </p:nvSpPr>
        <p:spPr>
          <a:xfrm>
            <a:off x="731520" y="685800"/>
            <a:ext cx="10698480" cy="731520"/>
          </a:xfrm>
          <a:prstGeom prst="rect">
            <a:avLst/>
          </a:prstGeom>
          <a:noFill/>
        </p:spPr>
        <p:txBody>
          <a:bodyPr wrap="square">
            <a:spAutoFit/>
          </a:bodyPr>
          <a:lstStyle/>
          <a:p>
            <a:pPr>
              <a:defRPr sz="2600" b="1">
                <a:solidFill>
                  <a:srgbClr val="F8FAFC"/>
                </a:solidFill>
                <a:latin typeface="Segoe UI"/>
              </a:defRPr>
            </a:pPr>
            <a:r>
              <a:t>Problem Statement: Online Exams Me Cheating Ki Samasya</a:t>
            </a:r>
          </a:p>
        </p:txBody>
      </p:sp>
      <p:sp>
        <p:nvSpPr>
          <p:cNvPr id="5" name="Rounded Rectangle 4"/>
          <p:cNvSpPr/>
          <p:nvPr/>
        </p:nvSpPr>
        <p:spPr>
          <a:xfrm>
            <a:off x="731520" y="1645920"/>
            <a:ext cx="3383280" cy="4389120"/>
          </a:xfrm>
          <a:prstGeom prst="roundRect">
            <a:avLst/>
          </a:prstGeom>
          <a:solidFill>
            <a:srgbClr val="161E35"/>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43155" y="1843177"/>
            <a:ext cx="3017520" cy="4023360"/>
          </a:xfrm>
          <a:prstGeom prst="rect">
            <a:avLst/>
          </a:prstGeom>
          <a:noFill/>
        </p:spPr>
        <p:txBody>
          <a:bodyPr wrap="square">
            <a:spAutoFit/>
          </a:bodyPr>
          <a:lstStyle/>
          <a:p>
            <a:pPr>
              <a:defRPr sz="1600" b="1">
                <a:solidFill>
                  <a:srgbClr val="06B6D4"/>
                </a:solidFill>
                <a:latin typeface="Segoe UI"/>
              </a:defRPr>
            </a:pPr>
            <a:r>
              <a:t>🚫 Common Cheating Tricks</a:t>
            </a:r>
          </a:p>
          <a:p>
            <a:pPr>
              <a:spcBef>
                <a:spcPts val="1000"/>
              </a:spcBef>
              <a:defRPr sz="1300">
                <a:solidFill>
                  <a:srgbClr val="F8FAFC"/>
                </a:solidFill>
                <a:latin typeface="Segoe UI"/>
              </a:defRPr>
            </a:pPr>
            <a:r>
              <a:t>• Smartphones aur books ka screen ke peeche chhupa kar use karna.</a:t>
            </a:r>
          </a:p>
          <a:p>
            <a:pPr>
              <a:spcBef>
                <a:spcPts val="1000"/>
              </a:spcBef>
              <a:defRPr sz="1300">
                <a:solidFill>
                  <a:srgbClr val="F8FAFC"/>
                </a:solidFill>
                <a:latin typeface="Segoe UI"/>
              </a:defRPr>
            </a:pPr>
            <a:r>
              <a:t>• Screen se baar-baar idhar-udhar dekhna (Looking Away).</a:t>
            </a:r>
          </a:p>
          <a:p>
            <a:pPr>
              <a:spcBef>
                <a:spcPts val="1000"/>
              </a:spcBef>
              <a:defRPr sz="1300">
                <a:solidFill>
                  <a:srgbClr val="F8FAFC"/>
                </a:solidFill>
                <a:latin typeface="Segoe UI"/>
              </a:defRPr>
            </a:pPr>
            <a:r>
              <a:t>• Exam ke dauran dusra tab khol kar Google / ChatGPT search karna.</a:t>
            </a:r>
          </a:p>
          <a:p>
            <a:pPr>
              <a:spcBef>
                <a:spcPts val="1000"/>
              </a:spcBef>
              <a:defRPr sz="1300">
                <a:solidFill>
                  <a:srgbClr val="F8FAFC"/>
                </a:solidFill>
                <a:latin typeface="Segoe UI"/>
              </a:defRPr>
            </a:pPr>
            <a:r>
              <a:t>• Kamre me kisi aur dost ya tutor se answers poochna.</a:t>
            </a:r>
          </a:p>
        </p:txBody>
      </p:sp>
      <p:sp>
        <p:nvSpPr>
          <p:cNvPr id="7" name="Rounded Rectangle 6"/>
          <p:cNvSpPr/>
          <p:nvPr/>
        </p:nvSpPr>
        <p:spPr>
          <a:xfrm>
            <a:off x="4297680" y="1645920"/>
            <a:ext cx="3383280" cy="4389120"/>
          </a:xfrm>
          <a:prstGeom prst="roundRect">
            <a:avLst/>
          </a:prstGeom>
          <a:solidFill>
            <a:srgbClr val="161E35"/>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80560" y="1828800"/>
            <a:ext cx="3017520" cy="4023360"/>
          </a:xfrm>
          <a:prstGeom prst="rect">
            <a:avLst/>
          </a:prstGeom>
          <a:noFill/>
        </p:spPr>
        <p:txBody>
          <a:bodyPr wrap="square">
            <a:spAutoFit/>
          </a:bodyPr>
          <a:lstStyle/>
          <a:p>
            <a:pPr>
              <a:defRPr sz="1600" b="1">
                <a:solidFill>
                  <a:srgbClr val="3B82F6"/>
                </a:solidFill>
                <a:latin typeface="Segoe UI"/>
              </a:defRPr>
            </a:pPr>
            <a:r>
              <a:t>👨‍🏫 Human Proctors Ki Kami</a:t>
            </a:r>
          </a:p>
          <a:p>
            <a:pPr>
              <a:spcBef>
                <a:spcPts val="1000"/>
              </a:spcBef>
              <a:defRPr sz="1300">
                <a:solidFill>
                  <a:srgbClr val="F8FAFC"/>
                </a:solidFill>
                <a:latin typeface="Segoe UI"/>
              </a:defRPr>
            </a:pPr>
            <a:r>
              <a:t>• Ek invigilator ek saath 5-10 se zyada screens dhyan se nahi dekh sakta.</a:t>
            </a:r>
          </a:p>
          <a:p>
            <a:pPr>
              <a:spcBef>
                <a:spcPts val="1000"/>
              </a:spcBef>
              <a:defRPr sz="1300">
                <a:solidFill>
                  <a:srgbClr val="F8FAFC"/>
                </a:solidFill>
                <a:latin typeface="Segoe UI"/>
              </a:defRPr>
            </a:pPr>
            <a:r>
              <a:t>• Insan thak jata hai (Fatigue) aur choti choti cheezein miss ho jati hain.</a:t>
            </a:r>
          </a:p>
          <a:p>
            <a:pPr>
              <a:spcBef>
                <a:spcPts val="1000"/>
              </a:spcBef>
              <a:defRPr sz="1300">
                <a:solidFill>
                  <a:srgbClr val="F8FAFC"/>
                </a:solidFill>
                <a:latin typeface="Segoe UI"/>
              </a:defRPr>
            </a:pPr>
            <a:r>
              <a:t>• Lakho students ke exams ke liye hazaro teachers ko bithana bohot mehenga hota hai.</a:t>
            </a:r>
          </a:p>
        </p:txBody>
      </p:sp>
      <p:sp>
        <p:nvSpPr>
          <p:cNvPr id="9" name="Rounded Rectangle 8"/>
          <p:cNvSpPr/>
          <p:nvPr/>
        </p:nvSpPr>
        <p:spPr>
          <a:xfrm>
            <a:off x="7863840" y="1645920"/>
            <a:ext cx="3383280" cy="4389120"/>
          </a:xfrm>
          <a:prstGeom prst="roundRect">
            <a:avLst/>
          </a:prstGeom>
          <a:solidFill>
            <a:srgbClr val="161E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0" y="1828800"/>
            <a:ext cx="3017520" cy="4023360"/>
          </a:xfrm>
          <a:prstGeom prst="rect">
            <a:avLst/>
          </a:prstGeom>
          <a:noFill/>
        </p:spPr>
        <p:txBody>
          <a:bodyPr wrap="square">
            <a:spAutoFit/>
          </a:bodyPr>
          <a:lstStyle/>
          <a:p>
            <a:pPr>
              <a:defRPr sz="1600" b="1">
                <a:solidFill>
                  <a:srgbClr val="10B981"/>
                </a:solidFill>
                <a:latin typeface="Segoe UI"/>
              </a:defRPr>
            </a:pPr>
            <a:r>
              <a:t>☁️ Purane Software Ki Khari</a:t>
            </a:r>
          </a:p>
          <a:p>
            <a:pPr>
              <a:spcBef>
                <a:spcPts val="1000"/>
              </a:spcBef>
              <a:defRPr sz="1300">
                <a:solidFill>
                  <a:srgbClr val="F8FAFC"/>
                </a:solidFill>
                <a:latin typeface="Segoe UI"/>
              </a:defRPr>
            </a:pPr>
            <a:r>
              <a:t>• Server par video bhejne se huge internet bandwidth waste hoti hai.</a:t>
            </a:r>
          </a:p>
          <a:p>
            <a:pPr>
              <a:spcBef>
                <a:spcPts val="1000"/>
              </a:spcBef>
              <a:defRPr sz="1300">
                <a:solidFill>
                  <a:srgbClr val="F8FAFC"/>
                </a:solidFill>
                <a:latin typeface="Segoe UI"/>
              </a:defRPr>
            </a:pPr>
            <a:r>
              <a:t>• Server crash ho jate hain aur cloud hosting ka heavy bill aata hai.</a:t>
            </a:r>
          </a:p>
          <a:p>
            <a:pPr>
              <a:spcBef>
                <a:spcPts val="1000"/>
              </a:spcBef>
              <a:defRPr sz="1300">
                <a:solidFill>
                  <a:srgbClr val="F8FAFC"/>
                </a:solidFill>
                <a:latin typeface="Segoe UI"/>
              </a:defRPr>
            </a:pPr>
            <a:r>
              <a:t>• Student ke camera ki video internet par leak hone ka privacy risk hota hai.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320040"/>
          </a:xfrm>
          <a:prstGeom prst="rect">
            <a:avLst/>
          </a:prstGeom>
          <a:noFill/>
        </p:spPr>
        <p:txBody>
          <a:bodyPr wrap="square">
            <a:spAutoFit/>
          </a:bodyPr>
          <a:lstStyle/>
          <a:p>
            <a:pPr>
              <a:defRPr sz="1100" b="1">
                <a:solidFill>
                  <a:srgbClr val="06B6D4"/>
                </a:solidFill>
                <a:latin typeface="Segoe UI"/>
              </a:defRPr>
            </a:pPr>
            <a:r>
              <a:t>CLIENT-SIDE EDGE AI ARCHITECTURE</a:t>
            </a:r>
          </a:p>
        </p:txBody>
      </p:sp>
      <p:sp>
        <p:nvSpPr>
          <p:cNvPr id="4" name="TextBox 3"/>
          <p:cNvSpPr txBox="1"/>
          <p:nvPr/>
        </p:nvSpPr>
        <p:spPr>
          <a:xfrm>
            <a:off x="731520" y="685800"/>
            <a:ext cx="10698480" cy="731520"/>
          </a:xfrm>
          <a:prstGeom prst="rect">
            <a:avLst/>
          </a:prstGeom>
          <a:noFill/>
        </p:spPr>
        <p:txBody>
          <a:bodyPr wrap="square">
            <a:spAutoFit/>
          </a:bodyPr>
          <a:lstStyle/>
          <a:p>
            <a:pPr>
              <a:defRPr sz="2600" b="1">
                <a:solidFill>
                  <a:srgbClr val="F8FAFC"/>
                </a:solidFill>
                <a:latin typeface="Segoe UI"/>
              </a:defRPr>
            </a:pPr>
            <a:r>
              <a:t>Proposed Solution: Sentinel AI Engine</a:t>
            </a:r>
          </a:p>
        </p:txBody>
      </p:sp>
      <p:sp>
        <p:nvSpPr>
          <p:cNvPr id="5" name="Rounded Rectangle 4"/>
          <p:cNvSpPr/>
          <p:nvPr/>
        </p:nvSpPr>
        <p:spPr>
          <a:xfrm>
            <a:off x="731520" y="1645920"/>
            <a:ext cx="5212080" cy="4389120"/>
          </a:xfrm>
          <a:prstGeom prst="roundRect">
            <a:avLst/>
          </a:prstGeom>
          <a:solidFill>
            <a:srgbClr val="161E35"/>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828800"/>
            <a:ext cx="4663440" cy="4023360"/>
          </a:xfrm>
          <a:prstGeom prst="rect">
            <a:avLst/>
          </a:prstGeom>
          <a:noFill/>
        </p:spPr>
        <p:txBody>
          <a:bodyPr wrap="square">
            <a:spAutoFit/>
          </a:bodyPr>
          <a:lstStyle/>
          <a:p>
            <a:pPr>
              <a:defRPr sz="1800" b="1">
                <a:solidFill>
                  <a:srgbClr val="06B6D4"/>
                </a:solidFill>
              </a:defRPr>
            </a:pPr>
            <a:r>
              <a:t>💡 Edge AI &amp; Zero Server Cost</a:t>
            </a:r>
          </a:p>
          <a:p>
            <a:pPr>
              <a:spcBef>
                <a:spcPts val="1200"/>
              </a:spcBef>
              <a:defRPr sz="1300">
                <a:solidFill>
                  <a:srgbClr val="F8FAFC"/>
                </a:solidFill>
              </a:defRPr>
            </a:pPr>
            <a:r>
              <a:t>✔ 100% In-Browser Execution: Video feed kisi remote server par nahi jati, candidate ke browser me hi process hoti hai.</a:t>
            </a:r>
          </a:p>
          <a:p>
            <a:pPr>
              <a:spcBef>
                <a:spcPts val="1200"/>
              </a:spcBef>
              <a:defRPr sz="1300">
                <a:solidFill>
                  <a:srgbClr val="F8FAFC"/>
                </a:solidFill>
              </a:defRPr>
            </a:pPr>
            <a:r>
              <a:t>✔ Zero Cloud Server Cost: Kisi mehenge GPU server ka kharcha nahi hota.</a:t>
            </a:r>
          </a:p>
          <a:p>
            <a:pPr>
              <a:spcBef>
                <a:spcPts val="1200"/>
              </a:spcBef>
              <a:defRPr sz="1300">
                <a:solidFill>
                  <a:srgbClr val="F8FAFC"/>
                </a:solidFill>
              </a:defRPr>
            </a:pPr>
            <a:r>
              <a:t>✔ Ultra-Fast (30ms Latency): WebAssembly &amp; WebGL GPU shaders se 60 FPS par smooth detection chalti hai.</a:t>
            </a:r>
          </a:p>
          <a:p>
            <a:pPr>
              <a:spcBef>
                <a:spcPts val="1200"/>
              </a:spcBef>
              <a:defRPr sz="1300">
                <a:solidFill>
                  <a:srgbClr val="F8FAFC"/>
                </a:solidFill>
              </a:defRPr>
            </a:pPr>
            <a:r>
              <a:t>✔ Complete Student Privacy: Video stream candidate ke device se bahar nahi jati.</a:t>
            </a:r>
          </a:p>
        </p:txBody>
      </p:sp>
      <p:sp>
        <p:nvSpPr>
          <p:cNvPr id="7" name="Rounded Rectangle 6"/>
          <p:cNvSpPr/>
          <p:nvPr/>
        </p:nvSpPr>
        <p:spPr>
          <a:xfrm>
            <a:off x="6217920" y="1645920"/>
            <a:ext cx="5212080" cy="4389120"/>
          </a:xfrm>
          <a:prstGeom prst="roundRect">
            <a:avLst/>
          </a:prstGeom>
          <a:solidFill>
            <a:srgbClr val="161E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828800"/>
            <a:ext cx="4663440" cy="4023360"/>
          </a:xfrm>
          <a:prstGeom prst="rect">
            <a:avLst/>
          </a:prstGeom>
          <a:noFill/>
        </p:spPr>
        <p:txBody>
          <a:bodyPr wrap="square">
            <a:spAutoFit/>
          </a:bodyPr>
          <a:lstStyle/>
          <a:p>
            <a:pPr>
              <a:defRPr sz="1800" b="1">
                <a:solidFill>
                  <a:srgbClr val="10B981"/>
                </a:solidFill>
              </a:defRPr>
            </a:pPr>
            <a:r>
              <a:t>🛡️ Complete 360° Monitoring</a:t>
            </a:r>
          </a:p>
          <a:p>
            <a:pPr>
              <a:spcBef>
                <a:spcPts val="1000"/>
              </a:spcBef>
              <a:defRPr sz="1300">
                <a:solidFill>
                  <a:srgbClr val="F8FAFC"/>
                </a:solidFill>
              </a:defRPr>
            </a:pPr>
            <a:r>
              <a:t>✔ Eye Gaze &amp; Head Turn: Sar idhar-udhar ghumane par turant warning chime aur alert.</a:t>
            </a:r>
          </a:p>
          <a:p>
            <a:pPr>
              <a:spcBef>
                <a:spcPts val="1000"/>
              </a:spcBef>
              <a:defRPr sz="1300">
                <a:solidFill>
                  <a:srgbClr val="F8FAFC"/>
                </a:solidFill>
              </a:defRPr>
            </a:pPr>
            <a:r>
              <a:t>✔ Mobile Phone Detection: Camera ke samne smartphone aate hi red box me detect hota hai.</a:t>
            </a:r>
          </a:p>
          <a:p>
            <a:pPr>
              <a:spcBef>
                <a:spcPts val="1000"/>
              </a:spcBef>
              <a:defRPr sz="1300">
                <a:solidFill>
                  <a:srgbClr val="F8FAFC"/>
                </a:solidFill>
              </a:defRPr>
            </a:pPr>
            <a:r>
              <a:t>✔ Multi-Person Check: Agar frame me 2 log aate hain toh automatic violation log hoti hai.</a:t>
            </a:r>
          </a:p>
          <a:p>
            <a:pPr>
              <a:spcBef>
                <a:spcPts val="1000"/>
              </a:spcBef>
              <a:defRPr sz="1300">
                <a:solidFill>
                  <a:srgbClr val="F8FAFC"/>
                </a:solidFill>
              </a:defRPr>
            </a:pPr>
            <a:r>
              <a:t>✔ Anti-Tab Switch: Tab badalna ya window minimize karna strictly prohibited aur recorded hai.</a:t>
            </a:r>
          </a:p>
          <a:p>
            <a:pPr>
              <a:spcBef>
                <a:spcPts val="1000"/>
              </a:spcBef>
              <a:defRPr sz="1300">
                <a:solidFill>
                  <a:srgbClr val="F8FAFC"/>
                </a:solidFill>
              </a:defRPr>
            </a:pPr>
            <a:r>
              <a:t>✔ Acoustic Monitor: Kisi se baat karna ya fusfusana (whispering) mic pakad leta hai.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320040"/>
          </a:xfrm>
          <a:prstGeom prst="rect">
            <a:avLst/>
          </a:prstGeom>
          <a:noFill/>
        </p:spPr>
        <p:txBody>
          <a:bodyPr wrap="square">
            <a:spAutoFit/>
          </a:bodyPr>
          <a:lstStyle/>
          <a:p>
            <a:pPr>
              <a:defRPr sz="1100" b="1">
                <a:solidFill>
                  <a:srgbClr val="06B6D4"/>
                </a:solidFill>
                <a:latin typeface="Segoe UI"/>
              </a:defRPr>
            </a:pPr>
            <a:r>
              <a:t>TECHNICAL WORKFLOW</a:t>
            </a:r>
          </a:p>
        </p:txBody>
      </p:sp>
      <p:sp>
        <p:nvSpPr>
          <p:cNvPr id="4" name="TextBox 3"/>
          <p:cNvSpPr txBox="1"/>
          <p:nvPr/>
        </p:nvSpPr>
        <p:spPr>
          <a:xfrm>
            <a:off x="731520" y="685800"/>
            <a:ext cx="10698480" cy="731520"/>
          </a:xfrm>
          <a:prstGeom prst="rect">
            <a:avLst/>
          </a:prstGeom>
          <a:noFill/>
        </p:spPr>
        <p:txBody>
          <a:bodyPr wrap="square">
            <a:spAutoFit/>
          </a:bodyPr>
          <a:lstStyle/>
          <a:p>
            <a:pPr>
              <a:defRPr sz="2600" b="1">
                <a:solidFill>
                  <a:srgbClr val="F8FAFC"/>
                </a:solidFill>
                <a:latin typeface="Segoe UI"/>
              </a:defRPr>
            </a:pPr>
            <a:r>
              <a:t>System Architecture &amp; Working Pipeline</a:t>
            </a:r>
          </a:p>
        </p:txBody>
      </p:sp>
      <p:sp>
        <p:nvSpPr>
          <p:cNvPr id="5" name="Rounded Rectangle 4"/>
          <p:cNvSpPr/>
          <p:nvPr/>
        </p:nvSpPr>
        <p:spPr>
          <a:xfrm>
            <a:off x="731520" y="1828800"/>
            <a:ext cx="2514600" cy="3931920"/>
          </a:xfrm>
          <a:prstGeom prst="roundRect">
            <a:avLst/>
          </a:prstGeom>
          <a:solidFill>
            <a:srgbClr val="161E35"/>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2011680"/>
            <a:ext cx="2240280" cy="3566160"/>
          </a:xfrm>
          <a:prstGeom prst="rect">
            <a:avLst/>
          </a:prstGeom>
          <a:noFill/>
        </p:spPr>
        <p:txBody>
          <a:bodyPr wrap="square">
            <a:spAutoFit/>
          </a:bodyPr>
          <a:lstStyle/>
          <a:p>
            <a:pPr>
              <a:defRPr sz="1600" b="1">
                <a:solidFill>
                  <a:srgbClr val="06B6D4"/>
                </a:solidFill>
              </a:defRPr>
            </a:pPr>
            <a:r>
              <a:t>1. Input Streams</a:t>
            </a:r>
          </a:p>
          <a:p>
            <a:pPr>
              <a:spcBef>
                <a:spcPts val="1400"/>
              </a:spcBef>
              <a:defRPr sz="1300">
                <a:solidFill>
                  <a:srgbClr val="F8FAFC"/>
                </a:solidFill>
              </a:defRPr>
            </a:pPr>
            <a:r>
              <a:t>Candidate Webcam (640x480 @ 30FPS) + Microphone Audio via WebRTC MediaDevices API.</a:t>
            </a:r>
          </a:p>
        </p:txBody>
      </p:sp>
      <p:sp>
        <p:nvSpPr>
          <p:cNvPr id="7" name="Rounded Rectangle 6"/>
          <p:cNvSpPr/>
          <p:nvPr/>
        </p:nvSpPr>
        <p:spPr>
          <a:xfrm>
            <a:off x="3429000" y="1828800"/>
            <a:ext cx="2514600" cy="3931920"/>
          </a:xfrm>
          <a:prstGeom prst="roundRect">
            <a:avLst/>
          </a:prstGeom>
          <a:solidFill>
            <a:srgbClr val="161E35"/>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566160" y="2011680"/>
            <a:ext cx="2240280" cy="3566160"/>
          </a:xfrm>
          <a:prstGeom prst="rect">
            <a:avLst/>
          </a:prstGeom>
          <a:noFill/>
        </p:spPr>
        <p:txBody>
          <a:bodyPr wrap="square">
            <a:spAutoFit/>
          </a:bodyPr>
          <a:lstStyle/>
          <a:p>
            <a:pPr>
              <a:defRPr sz="1600" b="1">
                <a:solidFill>
                  <a:srgbClr val="3B82F6"/>
                </a:solidFill>
              </a:defRPr>
            </a:pPr>
            <a:r>
              <a:t>2. AI Processing</a:t>
            </a:r>
          </a:p>
          <a:p>
            <a:pPr>
              <a:spcBef>
                <a:spcPts val="1400"/>
              </a:spcBef>
              <a:defRPr sz="1300">
                <a:solidFill>
                  <a:srgbClr val="F8FAFC"/>
                </a:solidFill>
              </a:defRPr>
            </a:pPr>
            <a:r>
              <a:t>MediaPipe FaceMesh (478 3D points) + MobileNetV2 COCO-SSD + Web Audio Analyser.</a:t>
            </a:r>
          </a:p>
        </p:txBody>
      </p:sp>
      <p:sp>
        <p:nvSpPr>
          <p:cNvPr id="9" name="Rounded Rectangle 8"/>
          <p:cNvSpPr/>
          <p:nvPr/>
        </p:nvSpPr>
        <p:spPr>
          <a:xfrm>
            <a:off x="6126480" y="1828800"/>
            <a:ext cx="2514600" cy="3931920"/>
          </a:xfrm>
          <a:prstGeom prst="roundRect">
            <a:avLst/>
          </a:prstGeom>
          <a:solidFill>
            <a:srgbClr val="161E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63640" y="2011680"/>
            <a:ext cx="2240280" cy="3566160"/>
          </a:xfrm>
          <a:prstGeom prst="rect">
            <a:avLst/>
          </a:prstGeom>
          <a:noFill/>
        </p:spPr>
        <p:txBody>
          <a:bodyPr wrap="square">
            <a:spAutoFit/>
          </a:bodyPr>
          <a:lstStyle/>
          <a:p>
            <a:pPr>
              <a:defRPr sz="1600" b="1">
                <a:solidFill>
                  <a:srgbClr val="10B981"/>
                </a:solidFill>
              </a:defRPr>
            </a:pPr>
            <a:r>
              <a:t>3. Decision Engine</a:t>
            </a:r>
          </a:p>
          <a:p>
            <a:pPr>
              <a:spcBef>
                <a:spcPts val="1400"/>
              </a:spcBef>
              <a:defRPr sz="1300">
                <a:solidFill>
                  <a:srgbClr val="F8FAFC"/>
                </a:solidFill>
              </a:defRPr>
            </a:pPr>
            <a:r>
              <a:t>Temporal Smoothing (Anti-Jitter) + Dynamic Trust Score Calculator (Starts at 100%).</a:t>
            </a:r>
          </a:p>
        </p:txBody>
      </p:sp>
      <p:sp>
        <p:nvSpPr>
          <p:cNvPr id="11" name="Rounded Rectangle 10"/>
          <p:cNvSpPr/>
          <p:nvPr/>
        </p:nvSpPr>
        <p:spPr>
          <a:xfrm>
            <a:off x="8823960" y="1828800"/>
            <a:ext cx="2514600" cy="3931920"/>
          </a:xfrm>
          <a:prstGeom prst="roundRect">
            <a:avLst/>
          </a:prstGeom>
          <a:solidFill>
            <a:srgbClr val="161E3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61120" y="2011680"/>
            <a:ext cx="2240280" cy="3566160"/>
          </a:xfrm>
          <a:prstGeom prst="rect">
            <a:avLst/>
          </a:prstGeom>
          <a:noFill/>
        </p:spPr>
        <p:txBody>
          <a:bodyPr wrap="square">
            <a:spAutoFit/>
          </a:bodyPr>
          <a:lstStyle/>
          <a:p>
            <a:pPr>
              <a:defRPr sz="1600" b="1">
                <a:solidFill>
                  <a:srgbClr val="F59E0B"/>
                </a:solidFill>
              </a:defRPr>
            </a:pPr>
            <a:r>
              <a:t>4. Output &amp; Forensics</a:t>
            </a:r>
          </a:p>
          <a:p>
            <a:pPr>
              <a:spcBef>
                <a:spcPts val="1400"/>
              </a:spcBef>
              <a:defRPr sz="1300">
                <a:solidFill>
                  <a:srgbClr val="F8FAFC"/>
                </a:solidFill>
              </a:defRPr>
            </a:pPr>
            <a:r>
              <a:t>Real-time Warning Chimes + Watermarked Photo Snapshots + Official Printable PDF Audit.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320040"/>
          </a:xfrm>
          <a:prstGeom prst="rect">
            <a:avLst/>
          </a:prstGeom>
          <a:noFill/>
        </p:spPr>
        <p:txBody>
          <a:bodyPr wrap="square">
            <a:spAutoFit/>
          </a:bodyPr>
          <a:lstStyle/>
          <a:p>
            <a:pPr>
              <a:defRPr sz="1100" b="1">
                <a:solidFill>
                  <a:srgbClr val="06B6D4"/>
                </a:solidFill>
                <a:latin typeface="Segoe UI"/>
              </a:defRPr>
            </a:pPr>
            <a:r>
              <a:t>TECH STACK</a:t>
            </a:r>
          </a:p>
        </p:txBody>
      </p:sp>
      <p:sp>
        <p:nvSpPr>
          <p:cNvPr id="4" name="TextBox 3"/>
          <p:cNvSpPr txBox="1"/>
          <p:nvPr/>
        </p:nvSpPr>
        <p:spPr>
          <a:xfrm>
            <a:off x="731520" y="685800"/>
            <a:ext cx="10698480" cy="731520"/>
          </a:xfrm>
          <a:prstGeom prst="rect">
            <a:avLst/>
          </a:prstGeom>
          <a:noFill/>
        </p:spPr>
        <p:txBody>
          <a:bodyPr wrap="square">
            <a:spAutoFit/>
          </a:bodyPr>
          <a:lstStyle/>
          <a:p>
            <a:pPr>
              <a:defRPr sz="2600" b="1">
                <a:solidFill>
                  <a:srgbClr val="F8FAFC"/>
                </a:solidFill>
                <a:latin typeface="Segoe UI"/>
              </a:defRPr>
            </a:pPr>
            <a:r>
              <a:t>Core Technologies &amp; AI Libraries Used</a:t>
            </a:r>
          </a:p>
        </p:txBody>
      </p:sp>
      <p:sp>
        <p:nvSpPr>
          <p:cNvPr id="5" name="Rounded Rectangle 4"/>
          <p:cNvSpPr/>
          <p:nvPr/>
        </p:nvSpPr>
        <p:spPr>
          <a:xfrm>
            <a:off x="731520" y="1645920"/>
            <a:ext cx="5257800" cy="2057400"/>
          </a:xfrm>
          <a:prstGeom prst="roundRect">
            <a:avLst/>
          </a:prstGeom>
          <a:solidFill>
            <a:srgbClr val="161E35"/>
          </a:solidFill>
          <a:ln>
            <a:solidFill>
              <a:srgbClr val="2533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783080"/>
            <a:ext cx="4892040" cy="1783080"/>
          </a:xfrm>
          <a:prstGeom prst="rect">
            <a:avLst/>
          </a:prstGeom>
          <a:noFill/>
        </p:spPr>
        <p:txBody>
          <a:bodyPr wrap="square">
            <a:spAutoFit/>
          </a:bodyPr>
          <a:lstStyle/>
          <a:p>
            <a:pPr>
              <a:defRPr sz="1500" b="1">
                <a:solidFill>
                  <a:srgbClr val="06B6D4"/>
                </a:solidFill>
              </a:defRPr>
            </a:pPr>
            <a:r>
              <a:t>[Vision AI] Google MediaPipe FaceMesh</a:t>
            </a:r>
          </a:p>
          <a:p>
            <a:pPr>
              <a:spcBef>
                <a:spcPts val="800"/>
              </a:spcBef>
              <a:defRPr sz="1250">
                <a:solidFill>
                  <a:srgbClr val="F8FAFC"/>
                </a:solidFill>
              </a:defRPr>
            </a:pPr>
            <a:r>
              <a:t>478 3D facial landmarks detect karta hai. Iska use karke Nose tip aur Eye corners ke ratio se Head Pose (Yaw, Pitch, Roll) calculate hota hai.</a:t>
            </a:r>
          </a:p>
        </p:txBody>
      </p:sp>
      <p:sp>
        <p:nvSpPr>
          <p:cNvPr id="7" name="Rounded Rectangle 6"/>
          <p:cNvSpPr/>
          <p:nvPr/>
        </p:nvSpPr>
        <p:spPr>
          <a:xfrm>
            <a:off x="6172200" y="1645920"/>
            <a:ext cx="5257800" cy="2057400"/>
          </a:xfrm>
          <a:prstGeom prst="roundRect">
            <a:avLst/>
          </a:prstGeom>
          <a:solidFill>
            <a:srgbClr val="161E35"/>
          </a:solidFill>
          <a:ln>
            <a:solidFill>
              <a:srgbClr val="2533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55080" y="1783080"/>
            <a:ext cx="4892040" cy="1783080"/>
          </a:xfrm>
          <a:prstGeom prst="rect">
            <a:avLst/>
          </a:prstGeom>
          <a:noFill/>
        </p:spPr>
        <p:txBody>
          <a:bodyPr wrap="square">
            <a:spAutoFit/>
          </a:bodyPr>
          <a:lstStyle/>
          <a:p>
            <a:pPr>
              <a:defRPr sz="1500" b="1">
                <a:solidFill>
                  <a:srgbClr val="06B6D4"/>
                </a:solidFill>
              </a:defRPr>
            </a:pPr>
            <a:r>
              <a:t>[Object Detection] TensorFlow.js (COCO-SSD)</a:t>
            </a:r>
          </a:p>
          <a:p>
            <a:pPr>
              <a:spcBef>
                <a:spcPts val="800"/>
              </a:spcBef>
              <a:defRPr sz="1250">
                <a:solidFill>
                  <a:srgbClr val="F8FAFC"/>
                </a:solidFill>
              </a:defRPr>
            </a:pPr>
            <a:r>
              <a:t>Lightweight MobileNetV2 architecture jo cell phone, book, aur extra laptop ko real-time bounding box ke sath detect karta hai.</a:t>
            </a:r>
          </a:p>
        </p:txBody>
      </p:sp>
      <p:sp>
        <p:nvSpPr>
          <p:cNvPr id="9" name="Rounded Rectangle 8"/>
          <p:cNvSpPr/>
          <p:nvPr/>
        </p:nvSpPr>
        <p:spPr>
          <a:xfrm>
            <a:off x="731520" y="3886200"/>
            <a:ext cx="5257800" cy="2057400"/>
          </a:xfrm>
          <a:prstGeom prst="roundRect">
            <a:avLst/>
          </a:prstGeom>
          <a:solidFill>
            <a:srgbClr val="161E35"/>
          </a:solidFill>
          <a:ln>
            <a:solidFill>
              <a:srgbClr val="2533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4023360"/>
            <a:ext cx="4892040" cy="1783080"/>
          </a:xfrm>
          <a:prstGeom prst="rect">
            <a:avLst/>
          </a:prstGeom>
          <a:noFill/>
        </p:spPr>
        <p:txBody>
          <a:bodyPr wrap="square">
            <a:spAutoFit/>
          </a:bodyPr>
          <a:lstStyle/>
          <a:p>
            <a:pPr>
              <a:defRPr sz="1500" b="1">
                <a:solidFill>
                  <a:srgbClr val="06B6D4"/>
                </a:solidFill>
              </a:defRPr>
            </a:pPr>
            <a:r>
              <a:t>[Acoustics] Web Audio API</a:t>
            </a:r>
          </a:p>
          <a:p>
            <a:pPr>
              <a:spcBef>
                <a:spcPts val="800"/>
              </a:spcBef>
              <a:defRPr sz="1250">
                <a:solidFill>
                  <a:srgbClr val="F8FAFC"/>
                </a:solidFill>
              </a:defRPr>
            </a:pPr>
            <a:r>
              <a:t>Fast Fourier Transform (FFT) ke through human vocal band (100Hz - 3000Hz) ko ambient fan noise se alag karke voice detect karta hai.</a:t>
            </a:r>
          </a:p>
        </p:txBody>
      </p:sp>
      <p:sp>
        <p:nvSpPr>
          <p:cNvPr id="11" name="Rounded Rectangle 10"/>
          <p:cNvSpPr/>
          <p:nvPr/>
        </p:nvSpPr>
        <p:spPr>
          <a:xfrm>
            <a:off x="6172200" y="3886200"/>
            <a:ext cx="5257800" cy="2057400"/>
          </a:xfrm>
          <a:prstGeom prst="roundRect">
            <a:avLst/>
          </a:prstGeom>
          <a:solidFill>
            <a:srgbClr val="161E35"/>
          </a:solidFill>
          <a:ln>
            <a:solidFill>
              <a:srgbClr val="2533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55080" y="4023360"/>
            <a:ext cx="4892040" cy="1783080"/>
          </a:xfrm>
          <a:prstGeom prst="rect">
            <a:avLst/>
          </a:prstGeom>
          <a:noFill/>
        </p:spPr>
        <p:txBody>
          <a:bodyPr wrap="square">
            <a:spAutoFit/>
          </a:bodyPr>
          <a:lstStyle/>
          <a:p>
            <a:pPr>
              <a:defRPr sz="1500" b="1">
                <a:solidFill>
                  <a:srgbClr val="06B6D4"/>
                </a:solidFill>
              </a:defRPr>
            </a:pPr>
            <a:r>
              <a:t>[Cybersecurity] Browser Security Sandbox</a:t>
            </a:r>
          </a:p>
          <a:p>
            <a:pPr>
              <a:spcBef>
                <a:spcPts val="800"/>
              </a:spcBef>
              <a:defRPr sz="1250">
                <a:solidFill>
                  <a:srgbClr val="F8FAFC"/>
                </a:solidFill>
              </a:defRPr>
            </a:pPr>
            <a:r>
              <a:t>HTML5 Page Visibility API aur window blur listeners jo tab-switch, devtools (F12), aur copy-paste (Ctrl+C/V) ko block karte hain.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320040"/>
          </a:xfrm>
          <a:prstGeom prst="rect">
            <a:avLst/>
          </a:prstGeom>
          <a:noFill/>
        </p:spPr>
        <p:txBody>
          <a:bodyPr wrap="square">
            <a:spAutoFit/>
          </a:bodyPr>
          <a:lstStyle/>
          <a:p>
            <a:pPr>
              <a:defRPr sz="1100" b="1">
                <a:solidFill>
                  <a:srgbClr val="06B6D4"/>
                </a:solidFill>
                <a:latin typeface="Segoe UI"/>
              </a:defRPr>
            </a:pPr>
            <a:r>
              <a:t>RULE ENGINE</a:t>
            </a:r>
          </a:p>
        </p:txBody>
      </p:sp>
      <p:sp>
        <p:nvSpPr>
          <p:cNvPr id="4" name="TextBox 3"/>
          <p:cNvSpPr txBox="1"/>
          <p:nvPr/>
        </p:nvSpPr>
        <p:spPr>
          <a:xfrm>
            <a:off x="731520" y="685800"/>
            <a:ext cx="10698480" cy="731520"/>
          </a:xfrm>
          <a:prstGeom prst="rect">
            <a:avLst/>
          </a:prstGeom>
          <a:noFill/>
        </p:spPr>
        <p:txBody>
          <a:bodyPr wrap="square">
            <a:spAutoFit/>
          </a:bodyPr>
          <a:lstStyle/>
          <a:p>
            <a:pPr>
              <a:defRPr sz="2600" b="1">
                <a:solidFill>
                  <a:srgbClr val="F8FAFC"/>
                </a:solidFill>
                <a:latin typeface="Segoe UI"/>
              </a:defRPr>
            </a:pPr>
            <a:r>
              <a:t>Malpractice Detection Rules &amp; Trust Score (100%)</a:t>
            </a:r>
          </a:p>
        </p:txBody>
      </p:sp>
      <p:graphicFrame>
        <p:nvGraphicFramePr>
          <p:cNvPr id="5" name="Table 4"/>
          <p:cNvGraphicFramePr>
            <a:graphicFrameLocks noGrp="1"/>
          </p:cNvGraphicFramePr>
          <p:nvPr/>
        </p:nvGraphicFramePr>
        <p:xfrm>
          <a:off x="731520" y="1645920"/>
          <a:ext cx="10725912" cy="438912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2221992">
                  <a:extLst>
                    <a:ext uri="{9D8B030D-6E8A-4147-A177-3AD203B41FA5}">
                      <a16:colId xmlns:a16="http://schemas.microsoft.com/office/drawing/2014/main" val="20002"/>
                    </a:ext>
                  </a:extLst>
                </a:gridCol>
              </a:tblGrid>
              <a:tr h="627017">
                <a:tc>
                  <a:txBody>
                    <a:bodyPr/>
                    <a:lstStyle/>
                    <a:p>
                      <a:pPr>
                        <a:defRPr sz="1300" b="1">
                          <a:solidFill>
                            <a:srgbClr val="06B6D4"/>
                          </a:solidFill>
                          <a:latin typeface="Segoe UI"/>
                        </a:defRPr>
                      </a:pPr>
                      <a:r>
                        <a:t>Violation Event</a:t>
                      </a:r>
                    </a:p>
                  </a:txBody>
                  <a:tcPr>
                    <a:solidFill>
                      <a:srgbClr val="253358"/>
                    </a:solidFill>
                  </a:tcPr>
                </a:tc>
                <a:tc>
                  <a:txBody>
                    <a:bodyPr/>
                    <a:lstStyle/>
                    <a:p>
                      <a:pPr>
                        <a:defRPr sz="1300" b="1">
                          <a:solidFill>
                            <a:srgbClr val="06B6D4"/>
                          </a:solidFill>
                          <a:latin typeface="Segoe UI"/>
                        </a:defRPr>
                      </a:pPr>
                      <a:r>
                        <a:t>Detection Logic / Technology</a:t>
                      </a:r>
                    </a:p>
                  </a:txBody>
                  <a:tcPr>
                    <a:solidFill>
                      <a:srgbClr val="253358"/>
                    </a:solidFill>
                  </a:tcPr>
                </a:tc>
                <a:tc>
                  <a:txBody>
                    <a:bodyPr/>
                    <a:lstStyle/>
                    <a:p>
                      <a:pPr>
                        <a:defRPr sz="1300" b="1">
                          <a:solidFill>
                            <a:srgbClr val="06B6D4"/>
                          </a:solidFill>
                          <a:latin typeface="Segoe UI"/>
                        </a:defRPr>
                      </a:pPr>
                      <a:r>
                        <a:t>Penalty Points</a:t>
                      </a:r>
                    </a:p>
                  </a:txBody>
                  <a:tcPr>
                    <a:solidFill>
                      <a:srgbClr val="253358"/>
                    </a:solidFill>
                  </a:tcPr>
                </a:tc>
                <a:extLst>
                  <a:ext uri="{0D108BD9-81ED-4DB2-BD59-A6C34878D82A}">
                    <a16:rowId xmlns:a16="http://schemas.microsoft.com/office/drawing/2014/main" val="10000"/>
                  </a:ext>
                </a:extLst>
              </a:tr>
              <a:tr h="627017">
                <a:tc>
                  <a:txBody>
                    <a:bodyPr/>
                    <a:lstStyle/>
                    <a:p>
                      <a:pPr>
                        <a:defRPr sz="1200">
                          <a:solidFill>
                            <a:srgbClr val="F8FAFC"/>
                          </a:solidFill>
                          <a:latin typeface="Segoe UI"/>
                        </a:defRPr>
                      </a:pPr>
                      <a:r>
                        <a:t>📱 Prohibited Object (Phone)</a:t>
                      </a:r>
                    </a:p>
                  </a:txBody>
                  <a:tcPr>
                    <a:solidFill>
                      <a:srgbClr val="161E35"/>
                    </a:solidFill>
                  </a:tcPr>
                </a:tc>
                <a:tc>
                  <a:txBody>
                    <a:bodyPr/>
                    <a:lstStyle/>
                    <a:p>
                      <a:pPr>
                        <a:defRPr sz="1200">
                          <a:solidFill>
                            <a:srgbClr val="F8FAFC"/>
                          </a:solidFill>
                          <a:latin typeface="Segoe UI"/>
                        </a:defRPr>
                      </a:pPr>
                      <a:r>
                        <a:t>TensorFlow.js COCO-SSD bounding box recognition</a:t>
                      </a:r>
                    </a:p>
                  </a:txBody>
                  <a:tcPr>
                    <a:solidFill>
                      <a:srgbClr val="161E35"/>
                    </a:solidFill>
                  </a:tcPr>
                </a:tc>
                <a:tc>
                  <a:txBody>
                    <a:bodyPr/>
                    <a:lstStyle/>
                    <a:p>
                      <a:pPr>
                        <a:defRPr sz="1200">
                          <a:solidFill>
                            <a:srgbClr val="EF4444"/>
                          </a:solidFill>
                          <a:latin typeface="Segoe UI"/>
                        </a:defRPr>
                      </a:pPr>
                      <a:r>
                        <a:t>-20 Points</a:t>
                      </a:r>
                    </a:p>
                  </a:txBody>
                  <a:tcPr>
                    <a:solidFill>
                      <a:srgbClr val="161E35"/>
                    </a:solidFill>
                  </a:tcPr>
                </a:tc>
                <a:extLst>
                  <a:ext uri="{0D108BD9-81ED-4DB2-BD59-A6C34878D82A}">
                    <a16:rowId xmlns:a16="http://schemas.microsoft.com/office/drawing/2014/main" val="10001"/>
                  </a:ext>
                </a:extLst>
              </a:tr>
              <a:tr h="627017">
                <a:tc>
                  <a:txBody>
                    <a:bodyPr/>
                    <a:lstStyle/>
                    <a:p>
                      <a:pPr>
                        <a:defRPr sz="1200">
                          <a:solidFill>
                            <a:srgbClr val="F8FAFC"/>
                          </a:solidFill>
                          <a:latin typeface="Segoe UI"/>
                        </a:defRPr>
                      </a:pPr>
                      <a:r>
                        <a:t>👥 Multiple Persons Detected</a:t>
                      </a:r>
                    </a:p>
                  </a:txBody>
                  <a:tcPr>
                    <a:solidFill>
                      <a:srgbClr val="161E35"/>
                    </a:solidFill>
                  </a:tcPr>
                </a:tc>
                <a:tc>
                  <a:txBody>
                    <a:bodyPr/>
                    <a:lstStyle/>
                    <a:p>
                      <a:pPr>
                        <a:defRPr sz="1200">
                          <a:solidFill>
                            <a:srgbClr val="F8FAFC"/>
                          </a:solidFill>
                          <a:latin typeface="Segoe UI"/>
                        </a:defRPr>
                      </a:pPr>
                      <a:r>
                        <a:t>MediaPipe Face count array &gt; 1 person</a:t>
                      </a:r>
                    </a:p>
                  </a:txBody>
                  <a:tcPr>
                    <a:solidFill>
                      <a:srgbClr val="161E35"/>
                    </a:solidFill>
                  </a:tcPr>
                </a:tc>
                <a:tc>
                  <a:txBody>
                    <a:bodyPr/>
                    <a:lstStyle/>
                    <a:p>
                      <a:pPr>
                        <a:defRPr sz="1200">
                          <a:solidFill>
                            <a:srgbClr val="EF4444"/>
                          </a:solidFill>
                          <a:latin typeface="Segoe UI"/>
                        </a:defRPr>
                      </a:pPr>
                      <a:r>
                        <a:t>-15 Points</a:t>
                      </a:r>
                    </a:p>
                  </a:txBody>
                  <a:tcPr>
                    <a:solidFill>
                      <a:srgbClr val="161E35"/>
                    </a:solidFill>
                  </a:tcPr>
                </a:tc>
                <a:extLst>
                  <a:ext uri="{0D108BD9-81ED-4DB2-BD59-A6C34878D82A}">
                    <a16:rowId xmlns:a16="http://schemas.microsoft.com/office/drawing/2014/main" val="10002"/>
                  </a:ext>
                </a:extLst>
              </a:tr>
              <a:tr h="627017">
                <a:tc>
                  <a:txBody>
                    <a:bodyPr/>
                    <a:lstStyle/>
                    <a:p>
                      <a:pPr>
                        <a:defRPr sz="1200">
                          <a:solidFill>
                            <a:srgbClr val="F8FAFC"/>
                          </a:solidFill>
                          <a:latin typeface="Segoe UI"/>
                        </a:defRPr>
                      </a:pPr>
                      <a:r>
                        <a:t>🖥️ Tab Switch / Window Blur</a:t>
                      </a:r>
                    </a:p>
                  </a:txBody>
                  <a:tcPr>
                    <a:solidFill>
                      <a:srgbClr val="161E35"/>
                    </a:solidFill>
                  </a:tcPr>
                </a:tc>
                <a:tc>
                  <a:txBody>
                    <a:bodyPr/>
                    <a:lstStyle/>
                    <a:p>
                      <a:pPr>
                        <a:defRPr sz="1200">
                          <a:solidFill>
                            <a:srgbClr val="F8FAFC"/>
                          </a:solidFill>
                          <a:latin typeface="Segoe UI"/>
                        </a:defRPr>
                      </a:pPr>
                      <a:r>
                        <a:t>Page Visibility API / window blur event</a:t>
                      </a:r>
                    </a:p>
                  </a:txBody>
                  <a:tcPr>
                    <a:solidFill>
                      <a:srgbClr val="161E35"/>
                    </a:solidFill>
                  </a:tcPr>
                </a:tc>
                <a:tc>
                  <a:txBody>
                    <a:bodyPr/>
                    <a:lstStyle/>
                    <a:p>
                      <a:pPr>
                        <a:defRPr sz="1200">
                          <a:solidFill>
                            <a:srgbClr val="EF4444"/>
                          </a:solidFill>
                          <a:latin typeface="Segoe UI"/>
                        </a:defRPr>
                      </a:pPr>
                      <a:r>
                        <a:t>-15 Points</a:t>
                      </a:r>
                    </a:p>
                  </a:txBody>
                  <a:tcPr>
                    <a:solidFill>
                      <a:srgbClr val="161E35"/>
                    </a:solidFill>
                  </a:tcPr>
                </a:tc>
                <a:extLst>
                  <a:ext uri="{0D108BD9-81ED-4DB2-BD59-A6C34878D82A}">
                    <a16:rowId xmlns:a16="http://schemas.microsoft.com/office/drawing/2014/main" val="10003"/>
                  </a:ext>
                </a:extLst>
              </a:tr>
              <a:tr h="627017">
                <a:tc>
                  <a:txBody>
                    <a:bodyPr/>
                    <a:lstStyle/>
                    <a:p>
                      <a:pPr>
                        <a:defRPr sz="1200">
                          <a:solidFill>
                            <a:srgbClr val="F8FAFC"/>
                          </a:solidFill>
                          <a:latin typeface="Segoe UI"/>
                        </a:defRPr>
                      </a:pPr>
                      <a:r>
                        <a:t>👤 Candidate Missing (No Face)</a:t>
                      </a:r>
                    </a:p>
                  </a:txBody>
                  <a:tcPr>
                    <a:solidFill>
                      <a:srgbClr val="161E35"/>
                    </a:solidFill>
                  </a:tcPr>
                </a:tc>
                <a:tc>
                  <a:txBody>
                    <a:bodyPr/>
                    <a:lstStyle/>
                    <a:p>
                      <a:pPr>
                        <a:defRPr sz="1200">
                          <a:solidFill>
                            <a:srgbClr val="F8FAFC"/>
                          </a:solidFill>
                          <a:latin typeface="Segoe UI"/>
                        </a:defRPr>
                      </a:pPr>
                      <a:r>
                        <a:t>Zero face detected continuously for &gt; 2.5s</a:t>
                      </a:r>
                    </a:p>
                  </a:txBody>
                  <a:tcPr>
                    <a:solidFill>
                      <a:srgbClr val="161E35"/>
                    </a:solidFill>
                  </a:tcPr>
                </a:tc>
                <a:tc>
                  <a:txBody>
                    <a:bodyPr/>
                    <a:lstStyle/>
                    <a:p>
                      <a:pPr>
                        <a:defRPr sz="1200">
                          <a:solidFill>
                            <a:srgbClr val="EF4444"/>
                          </a:solidFill>
                          <a:latin typeface="Segoe UI"/>
                        </a:defRPr>
                      </a:pPr>
                      <a:r>
                        <a:t>-10 Points</a:t>
                      </a:r>
                    </a:p>
                  </a:txBody>
                  <a:tcPr>
                    <a:solidFill>
                      <a:srgbClr val="161E35"/>
                    </a:solidFill>
                  </a:tcPr>
                </a:tc>
                <a:extLst>
                  <a:ext uri="{0D108BD9-81ED-4DB2-BD59-A6C34878D82A}">
                    <a16:rowId xmlns:a16="http://schemas.microsoft.com/office/drawing/2014/main" val="10004"/>
                  </a:ext>
                </a:extLst>
              </a:tr>
              <a:tr h="627017">
                <a:tc>
                  <a:txBody>
                    <a:bodyPr/>
                    <a:lstStyle/>
                    <a:p>
                      <a:pPr>
                        <a:defRPr sz="1200">
                          <a:solidFill>
                            <a:srgbClr val="F8FAFC"/>
                          </a:solidFill>
                          <a:latin typeface="Segoe UI"/>
                        </a:defRPr>
                      </a:pPr>
                      <a:r>
                        <a:t>👀 Looking Away (Gaze Deviation)</a:t>
                      </a:r>
                    </a:p>
                  </a:txBody>
                  <a:tcPr>
                    <a:solidFill>
                      <a:srgbClr val="161E35"/>
                    </a:solidFill>
                  </a:tcPr>
                </a:tc>
                <a:tc>
                  <a:txBody>
                    <a:bodyPr/>
                    <a:lstStyle/>
                    <a:p>
                      <a:pPr>
                        <a:defRPr sz="1200">
                          <a:solidFill>
                            <a:srgbClr val="F8FAFC"/>
                          </a:solidFill>
                          <a:latin typeface="Segoe UI"/>
                        </a:defRPr>
                      </a:pPr>
                      <a:r>
                        <a:t>Yaw / Pitch rotation exceeds ±18 degrees (&gt; 2.5s)</a:t>
                      </a:r>
                    </a:p>
                  </a:txBody>
                  <a:tcPr>
                    <a:solidFill>
                      <a:srgbClr val="161E35"/>
                    </a:solidFill>
                  </a:tcPr>
                </a:tc>
                <a:tc>
                  <a:txBody>
                    <a:bodyPr/>
                    <a:lstStyle/>
                    <a:p>
                      <a:pPr>
                        <a:defRPr sz="1200">
                          <a:solidFill>
                            <a:srgbClr val="EF4444"/>
                          </a:solidFill>
                          <a:latin typeface="Segoe UI"/>
                        </a:defRPr>
                      </a:pPr>
                      <a:r>
                        <a:t>-4 Points</a:t>
                      </a:r>
                    </a:p>
                  </a:txBody>
                  <a:tcPr>
                    <a:solidFill>
                      <a:srgbClr val="161E35"/>
                    </a:solidFill>
                  </a:tcPr>
                </a:tc>
                <a:extLst>
                  <a:ext uri="{0D108BD9-81ED-4DB2-BD59-A6C34878D82A}">
                    <a16:rowId xmlns:a16="http://schemas.microsoft.com/office/drawing/2014/main" val="10005"/>
                  </a:ext>
                </a:extLst>
              </a:tr>
              <a:tr h="627018">
                <a:tc>
                  <a:txBody>
                    <a:bodyPr/>
                    <a:lstStyle/>
                    <a:p>
                      <a:pPr>
                        <a:defRPr sz="1200">
                          <a:solidFill>
                            <a:srgbClr val="F8FAFC"/>
                          </a:solidFill>
                          <a:latin typeface="Segoe UI"/>
                        </a:defRPr>
                      </a:pPr>
                      <a:r>
                        <a:t>🎙️ Speech / Whisper Noise</a:t>
                      </a:r>
                    </a:p>
                  </a:txBody>
                  <a:tcPr>
                    <a:solidFill>
                      <a:srgbClr val="161E35"/>
                    </a:solidFill>
                  </a:tcPr>
                </a:tc>
                <a:tc>
                  <a:txBody>
                    <a:bodyPr/>
                    <a:lstStyle/>
                    <a:p>
                      <a:pPr>
                        <a:defRPr sz="1200">
                          <a:solidFill>
                            <a:srgbClr val="F8FAFC"/>
                          </a:solidFill>
                          <a:latin typeface="Segoe UI"/>
                        </a:defRPr>
                      </a:pPr>
                      <a:r>
                        <a:t>Web Audio API vocal band decibel threshold exceeded</a:t>
                      </a:r>
                    </a:p>
                  </a:txBody>
                  <a:tcPr>
                    <a:solidFill>
                      <a:srgbClr val="161E35"/>
                    </a:solidFill>
                  </a:tcPr>
                </a:tc>
                <a:tc>
                  <a:txBody>
                    <a:bodyPr/>
                    <a:lstStyle/>
                    <a:p>
                      <a:pPr>
                        <a:defRPr sz="1200">
                          <a:solidFill>
                            <a:srgbClr val="EF4444"/>
                          </a:solidFill>
                          <a:latin typeface="Segoe UI"/>
                        </a:defRPr>
                      </a:pPr>
                      <a:r>
                        <a:t>-5 Points</a:t>
                      </a:r>
                    </a:p>
                  </a:txBody>
                  <a:tcPr>
                    <a:solidFill>
                      <a:srgbClr val="161E35"/>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320040"/>
          </a:xfrm>
          <a:prstGeom prst="rect">
            <a:avLst/>
          </a:prstGeom>
          <a:noFill/>
        </p:spPr>
        <p:txBody>
          <a:bodyPr wrap="square">
            <a:spAutoFit/>
          </a:bodyPr>
          <a:lstStyle/>
          <a:p>
            <a:pPr>
              <a:defRPr sz="1100" b="1">
                <a:solidFill>
                  <a:srgbClr val="06B6D4"/>
                </a:solidFill>
                <a:latin typeface="Segoe UI"/>
              </a:defRPr>
            </a:pPr>
            <a:r>
              <a:t>TAMPER-PROOF AUDITING</a:t>
            </a:r>
          </a:p>
        </p:txBody>
      </p:sp>
      <p:sp>
        <p:nvSpPr>
          <p:cNvPr id="4" name="TextBox 3"/>
          <p:cNvSpPr txBox="1"/>
          <p:nvPr/>
        </p:nvSpPr>
        <p:spPr>
          <a:xfrm>
            <a:off x="731520" y="685800"/>
            <a:ext cx="10698480" cy="731520"/>
          </a:xfrm>
          <a:prstGeom prst="rect">
            <a:avLst/>
          </a:prstGeom>
          <a:noFill/>
        </p:spPr>
        <p:txBody>
          <a:bodyPr wrap="square">
            <a:spAutoFit/>
          </a:bodyPr>
          <a:lstStyle/>
          <a:p>
            <a:pPr>
              <a:defRPr sz="2600" b="1">
                <a:solidFill>
                  <a:srgbClr val="F8FAFC"/>
                </a:solidFill>
                <a:latin typeface="Segoe UI"/>
              </a:defRPr>
            </a:pPr>
            <a:r>
              <a:t>Forensic Evidence Trail &amp; Auto Snapshotting</a:t>
            </a:r>
          </a:p>
        </p:txBody>
      </p:sp>
      <p:sp>
        <p:nvSpPr>
          <p:cNvPr id="5" name="Rounded Rectangle 4"/>
          <p:cNvSpPr/>
          <p:nvPr/>
        </p:nvSpPr>
        <p:spPr>
          <a:xfrm>
            <a:off x="731520" y="1645920"/>
            <a:ext cx="5212080" cy="4389120"/>
          </a:xfrm>
          <a:prstGeom prst="roundRect">
            <a:avLst/>
          </a:prstGeom>
          <a:solidFill>
            <a:srgbClr val="161E35"/>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920240"/>
            <a:ext cx="4663440" cy="3840480"/>
          </a:xfrm>
          <a:prstGeom prst="rect">
            <a:avLst/>
          </a:prstGeom>
          <a:noFill/>
        </p:spPr>
        <p:txBody>
          <a:bodyPr wrap="square">
            <a:spAutoFit/>
          </a:bodyPr>
          <a:lstStyle/>
          <a:p>
            <a:pPr>
              <a:defRPr sz="1800" b="1">
                <a:solidFill>
                  <a:srgbClr val="06B6D4"/>
                </a:solidFill>
              </a:defRPr>
            </a:pPr>
            <a:r>
              <a:t>📸 Automated Photo Evidence</a:t>
            </a:r>
          </a:p>
          <a:p>
            <a:pPr>
              <a:spcBef>
                <a:spcPts val="1400"/>
              </a:spcBef>
              <a:defRPr sz="1300">
                <a:solidFill>
                  <a:srgbClr val="F8FAFC"/>
                </a:solidFill>
              </a:defRPr>
            </a:pPr>
            <a:r>
              <a:t>• Jab bhi koi violation hoti hai (jaise mobile phone dikhna ya looking away), system webcam frame se automatic snapshot capture karta hai.</a:t>
            </a:r>
          </a:p>
          <a:p>
            <a:pPr>
              <a:spcBef>
                <a:spcPts val="1400"/>
              </a:spcBef>
              <a:defRPr sz="1300">
                <a:solidFill>
                  <a:srgbClr val="F8FAFC"/>
                </a:solidFill>
              </a:defRPr>
            </a:pPr>
            <a:r>
              <a:t>• Watermarking: Photo par Candidate Name, Roll Number, Timestamp, aur Violation Type permanently imprint hota hai.</a:t>
            </a:r>
          </a:p>
          <a:p>
            <a:pPr>
              <a:spcBef>
                <a:spcPts val="1400"/>
              </a:spcBef>
              <a:defRPr sz="1300">
                <a:solidFill>
                  <a:srgbClr val="F8FAFC"/>
                </a:solidFill>
              </a:defRPr>
            </a:pPr>
            <a:r>
              <a:t>• Examiner ke paas visual proof rehta hai jisse student jhooth nahi bol sakta.</a:t>
            </a:r>
          </a:p>
        </p:txBody>
      </p:sp>
      <p:sp>
        <p:nvSpPr>
          <p:cNvPr id="7" name="Rounded Rectangle 6"/>
          <p:cNvSpPr/>
          <p:nvPr/>
        </p:nvSpPr>
        <p:spPr>
          <a:xfrm>
            <a:off x="6217920" y="1645920"/>
            <a:ext cx="5212080" cy="4389120"/>
          </a:xfrm>
          <a:prstGeom prst="roundRect">
            <a:avLst/>
          </a:prstGeom>
          <a:solidFill>
            <a:srgbClr val="161E35"/>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920240"/>
            <a:ext cx="4663440" cy="3840480"/>
          </a:xfrm>
          <a:prstGeom prst="rect">
            <a:avLst/>
          </a:prstGeom>
          <a:noFill/>
        </p:spPr>
        <p:txBody>
          <a:bodyPr wrap="square">
            <a:spAutoFit/>
          </a:bodyPr>
          <a:lstStyle/>
          <a:p>
            <a:pPr>
              <a:defRPr sz="1800" b="1">
                <a:solidFill>
                  <a:srgbClr val="10B981"/>
                </a:solidFill>
              </a:defRPr>
            </a:pPr>
            <a:r>
              <a:t>📑 Official Proctoring Certificate</a:t>
            </a:r>
          </a:p>
          <a:p>
            <a:pPr>
              <a:spcBef>
                <a:spcPts val="1400"/>
              </a:spcBef>
              <a:defRPr sz="1300">
                <a:solidFill>
                  <a:srgbClr val="F8FAFC"/>
                </a:solidFill>
              </a:defRPr>
            </a:pPr>
            <a:r>
              <a:t>• One-Click PDF Export: Exam submit hone ke baad ek professional audit report generate hoti hai.</a:t>
            </a:r>
          </a:p>
          <a:p>
            <a:pPr>
              <a:spcBef>
                <a:spcPts val="1400"/>
              </a:spcBef>
              <a:defRPr sz="1300">
                <a:solidFill>
                  <a:srgbClr val="F8FAFC"/>
                </a:solidFill>
              </a:defRPr>
            </a:pPr>
            <a:r>
              <a:t>• Final Integrity Verdict: Exemplary / Clean, Suspicious (Review Required), ya Malpractice Detected.</a:t>
            </a:r>
          </a:p>
          <a:p>
            <a:pPr>
              <a:spcBef>
                <a:spcPts val="1400"/>
              </a:spcBef>
              <a:defRPr sz="1300">
                <a:solidFill>
                  <a:srgbClr val="F8FAFC"/>
                </a:solidFill>
              </a:defRPr>
            </a:pPr>
            <a:r>
              <a:t>• Detailed Statistics Breakdown: Tab switches count, Looking away count, aur sabhi evidence photos ka visual gallery.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320040"/>
          </a:xfrm>
          <a:prstGeom prst="rect">
            <a:avLst/>
          </a:prstGeom>
          <a:noFill/>
        </p:spPr>
        <p:txBody>
          <a:bodyPr wrap="square">
            <a:spAutoFit/>
          </a:bodyPr>
          <a:lstStyle/>
          <a:p>
            <a:pPr>
              <a:defRPr sz="1100" b="1">
                <a:solidFill>
                  <a:srgbClr val="06B6D4"/>
                </a:solidFill>
                <a:latin typeface="Segoe UI"/>
              </a:defRPr>
            </a:pPr>
            <a:r>
              <a:t>DEMONSTRATION FEATURES</a:t>
            </a:r>
          </a:p>
        </p:txBody>
      </p:sp>
      <p:sp>
        <p:nvSpPr>
          <p:cNvPr id="4" name="TextBox 3"/>
          <p:cNvSpPr txBox="1"/>
          <p:nvPr/>
        </p:nvSpPr>
        <p:spPr>
          <a:xfrm>
            <a:off x="731520" y="685800"/>
            <a:ext cx="10698480" cy="731520"/>
          </a:xfrm>
          <a:prstGeom prst="rect">
            <a:avLst/>
          </a:prstGeom>
          <a:noFill/>
        </p:spPr>
        <p:txBody>
          <a:bodyPr wrap="square">
            <a:spAutoFit/>
          </a:bodyPr>
          <a:lstStyle/>
          <a:p>
            <a:pPr>
              <a:defRPr sz="2600" b="1">
                <a:solidFill>
                  <a:srgbClr val="F8FAFC"/>
                </a:solidFill>
                <a:latin typeface="Segoe UI"/>
              </a:defRPr>
            </a:pPr>
            <a:r>
              <a:t>Interactive AI Sensor Sandbox (Live Viva Mode)</a:t>
            </a:r>
          </a:p>
        </p:txBody>
      </p:sp>
      <p:sp>
        <p:nvSpPr>
          <p:cNvPr id="5" name="Rounded Rectangle 4"/>
          <p:cNvSpPr/>
          <p:nvPr/>
        </p:nvSpPr>
        <p:spPr>
          <a:xfrm>
            <a:off x="731520" y="1828800"/>
            <a:ext cx="2057400" cy="3931920"/>
          </a:xfrm>
          <a:prstGeom prst="roundRect">
            <a:avLst/>
          </a:prstGeom>
          <a:solidFill>
            <a:srgbClr val="161E35"/>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011680"/>
            <a:ext cx="1874520" cy="3566160"/>
          </a:xfrm>
          <a:prstGeom prst="rect">
            <a:avLst/>
          </a:prstGeom>
          <a:noFill/>
        </p:spPr>
        <p:txBody>
          <a:bodyPr wrap="square">
            <a:spAutoFit/>
          </a:bodyPr>
          <a:lstStyle/>
          <a:p>
            <a:pPr>
              <a:defRPr sz="1500" b="1">
                <a:solidFill>
                  <a:srgbClr val="06B6D4"/>
                </a:solidFill>
              </a:defRPr>
            </a:pPr>
            <a:r>
              <a:t>1. Head Pose Test</a:t>
            </a:r>
          </a:p>
          <a:p>
            <a:pPr>
              <a:spcBef>
                <a:spcPts val="1200"/>
              </a:spcBef>
              <a:defRPr sz="1300">
                <a:solidFill>
                  <a:srgbClr val="F8FAFC"/>
                </a:solidFill>
              </a:defRPr>
            </a:pPr>
            <a:r>
              <a:t>Sar ko right ya left turn karke live gaze direction alert dikhana.</a:t>
            </a:r>
          </a:p>
        </p:txBody>
      </p:sp>
      <p:sp>
        <p:nvSpPr>
          <p:cNvPr id="7" name="Rounded Rectangle 6"/>
          <p:cNvSpPr/>
          <p:nvPr/>
        </p:nvSpPr>
        <p:spPr>
          <a:xfrm>
            <a:off x="2907791" y="1828800"/>
            <a:ext cx="2057400" cy="3931920"/>
          </a:xfrm>
          <a:prstGeom prst="roundRect">
            <a:avLst/>
          </a:prstGeom>
          <a:solidFill>
            <a:srgbClr val="161E35"/>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999231" y="2011680"/>
            <a:ext cx="1874520" cy="3566160"/>
          </a:xfrm>
          <a:prstGeom prst="rect">
            <a:avLst/>
          </a:prstGeom>
          <a:noFill/>
        </p:spPr>
        <p:txBody>
          <a:bodyPr wrap="square">
            <a:spAutoFit/>
          </a:bodyPr>
          <a:lstStyle/>
          <a:p>
            <a:pPr>
              <a:defRPr sz="1500" b="1">
                <a:solidFill>
                  <a:srgbClr val="3B82F6"/>
                </a:solidFill>
              </a:defRPr>
            </a:pPr>
            <a:r>
              <a:t>2. Phone Test</a:t>
            </a:r>
          </a:p>
          <a:p>
            <a:pPr>
              <a:spcBef>
                <a:spcPts val="1200"/>
              </a:spcBef>
              <a:defRPr sz="1300">
                <a:solidFill>
                  <a:srgbClr val="F8FAFC"/>
                </a:solidFill>
              </a:defRPr>
            </a:pPr>
            <a:r>
              <a:t>Camera ke aage smartphone layein -&gt; Red bounding box detect hoga.</a:t>
            </a:r>
          </a:p>
        </p:txBody>
      </p:sp>
      <p:sp>
        <p:nvSpPr>
          <p:cNvPr id="9" name="Rounded Rectangle 8"/>
          <p:cNvSpPr/>
          <p:nvPr/>
        </p:nvSpPr>
        <p:spPr>
          <a:xfrm>
            <a:off x="5084064" y="1828800"/>
            <a:ext cx="2057400" cy="3931920"/>
          </a:xfrm>
          <a:prstGeom prst="roundRect">
            <a:avLst/>
          </a:prstGeom>
          <a:solidFill>
            <a:srgbClr val="161E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175504" y="2011680"/>
            <a:ext cx="1874520" cy="3566160"/>
          </a:xfrm>
          <a:prstGeom prst="rect">
            <a:avLst/>
          </a:prstGeom>
          <a:noFill/>
        </p:spPr>
        <p:txBody>
          <a:bodyPr wrap="square">
            <a:spAutoFit/>
          </a:bodyPr>
          <a:lstStyle/>
          <a:p>
            <a:pPr>
              <a:defRPr sz="1500" b="1">
                <a:solidFill>
                  <a:srgbClr val="10B981"/>
                </a:solidFill>
              </a:defRPr>
            </a:pPr>
            <a:r>
              <a:t>3. Multiple Faces Test</a:t>
            </a:r>
          </a:p>
          <a:p>
            <a:pPr>
              <a:spcBef>
                <a:spcPts val="1200"/>
              </a:spcBef>
              <a:defRPr sz="1300">
                <a:solidFill>
                  <a:srgbClr val="F8FAFC"/>
                </a:solidFill>
              </a:defRPr>
            </a:pPr>
            <a:r>
              <a:t>Frame me dusra vyakti aane par automatic multiple person warning.</a:t>
            </a:r>
          </a:p>
        </p:txBody>
      </p:sp>
      <p:sp>
        <p:nvSpPr>
          <p:cNvPr id="11" name="Rounded Rectangle 10"/>
          <p:cNvSpPr/>
          <p:nvPr/>
        </p:nvSpPr>
        <p:spPr>
          <a:xfrm>
            <a:off x="7260336" y="1828800"/>
            <a:ext cx="2057400" cy="3931920"/>
          </a:xfrm>
          <a:prstGeom prst="roundRect">
            <a:avLst/>
          </a:prstGeom>
          <a:solidFill>
            <a:srgbClr val="161E3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51776" y="2011680"/>
            <a:ext cx="1874520" cy="3566160"/>
          </a:xfrm>
          <a:prstGeom prst="rect">
            <a:avLst/>
          </a:prstGeom>
          <a:noFill/>
        </p:spPr>
        <p:txBody>
          <a:bodyPr wrap="square">
            <a:spAutoFit/>
          </a:bodyPr>
          <a:lstStyle/>
          <a:p>
            <a:pPr>
              <a:defRPr sz="1500" b="1">
                <a:solidFill>
                  <a:srgbClr val="F59E0B"/>
                </a:solidFill>
              </a:defRPr>
            </a:pPr>
            <a:r>
              <a:t>4. Audio Whisper Test</a:t>
            </a:r>
          </a:p>
          <a:p>
            <a:pPr>
              <a:spcBef>
                <a:spcPts val="1200"/>
              </a:spcBef>
              <a:defRPr sz="1300">
                <a:solidFill>
                  <a:srgbClr val="F8FAFC"/>
                </a:solidFill>
              </a:defRPr>
            </a:pPr>
            <a:r>
              <a:t>Bolne ya aawaaz karne par microphone meter spike aur alert.</a:t>
            </a:r>
          </a:p>
        </p:txBody>
      </p:sp>
      <p:sp>
        <p:nvSpPr>
          <p:cNvPr id="13" name="Rounded Rectangle 12"/>
          <p:cNvSpPr/>
          <p:nvPr/>
        </p:nvSpPr>
        <p:spPr>
          <a:xfrm>
            <a:off x="9436608" y="1828800"/>
            <a:ext cx="2057400" cy="3931920"/>
          </a:xfrm>
          <a:prstGeom prst="roundRect">
            <a:avLst/>
          </a:prstGeom>
          <a:solidFill>
            <a:srgbClr val="161E35"/>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528048" y="2011680"/>
            <a:ext cx="1874520" cy="3566160"/>
          </a:xfrm>
          <a:prstGeom prst="rect">
            <a:avLst/>
          </a:prstGeom>
          <a:noFill/>
        </p:spPr>
        <p:txBody>
          <a:bodyPr wrap="square">
            <a:spAutoFit/>
          </a:bodyPr>
          <a:lstStyle/>
          <a:p>
            <a:pPr>
              <a:defRPr sz="1500" b="1">
                <a:solidFill>
                  <a:srgbClr val="EF4444"/>
                </a:solidFill>
              </a:defRPr>
            </a:pPr>
            <a:r>
              <a:t>5. Tab Switch Test</a:t>
            </a:r>
          </a:p>
          <a:p>
            <a:pPr>
              <a:spcBef>
                <a:spcPts val="1200"/>
              </a:spcBef>
              <a:defRPr sz="1300">
                <a:solidFill>
                  <a:srgbClr val="F8FAFC"/>
                </a:solidFill>
              </a:defRPr>
            </a:pPr>
            <a:r>
              <a:t>Dusra tab kholte hi application lock aur audit record trigger.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320040"/>
          </a:xfrm>
          <a:prstGeom prst="rect">
            <a:avLst/>
          </a:prstGeom>
          <a:noFill/>
        </p:spPr>
        <p:txBody>
          <a:bodyPr wrap="square">
            <a:spAutoFit/>
          </a:bodyPr>
          <a:lstStyle/>
          <a:p>
            <a:pPr>
              <a:defRPr sz="1100" b="1">
                <a:solidFill>
                  <a:srgbClr val="06B6D4"/>
                </a:solidFill>
                <a:latin typeface="Segoe UI"/>
              </a:defRPr>
            </a:pPr>
            <a:r>
              <a:t>PROJECT HIGHLIGHTS</a:t>
            </a:r>
          </a:p>
        </p:txBody>
      </p:sp>
      <p:sp>
        <p:nvSpPr>
          <p:cNvPr id="4" name="TextBox 3"/>
          <p:cNvSpPr txBox="1"/>
          <p:nvPr/>
        </p:nvSpPr>
        <p:spPr>
          <a:xfrm>
            <a:off x="731520" y="685800"/>
            <a:ext cx="10698480" cy="731520"/>
          </a:xfrm>
          <a:prstGeom prst="rect">
            <a:avLst/>
          </a:prstGeom>
          <a:noFill/>
        </p:spPr>
        <p:txBody>
          <a:bodyPr wrap="square">
            <a:spAutoFit/>
          </a:bodyPr>
          <a:lstStyle/>
          <a:p>
            <a:pPr>
              <a:defRPr sz="2600" b="1">
                <a:solidFill>
                  <a:srgbClr val="F8FAFC"/>
                </a:solidFill>
                <a:latin typeface="Segoe UI"/>
              </a:defRPr>
            </a:pPr>
            <a:r>
              <a:t>Advantages &amp; Key Differentiators</a:t>
            </a:r>
          </a:p>
        </p:txBody>
      </p:sp>
      <p:sp>
        <p:nvSpPr>
          <p:cNvPr id="5" name="Rounded Rectangle 4"/>
          <p:cNvSpPr/>
          <p:nvPr/>
        </p:nvSpPr>
        <p:spPr>
          <a:xfrm>
            <a:off x="731520" y="1645920"/>
            <a:ext cx="10725912" cy="4389120"/>
          </a:xfrm>
          <a:prstGeom prst="roundRect">
            <a:avLst/>
          </a:prstGeom>
          <a:solidFill>
            <a:srgbClr val="161E35"/>
          </a:solidFill>
          <a:ln>
            <a:solidFill>
              <a:srgbClr val="2533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1920240"/>
            <a:ext cx="9966960" cy="3840480"/>
          </a:xfrm>
          <a:prstGeom prst="rect">
            <a:avLst/>
          </a:prstGeom>
          <a:noFill/>
        </p:spPr>
        <p:txBody>
          <a:bodyPr wrap="square">
            <a:spAutoFit/>
          </a:bodyPr>
          <a:lstStyle/>
          <a:p>
            <a:pPr>
              <a:spcBef>
                <a:spcPts val="1000"/>
              </a:spcBef>
              <a:defRPr sz="1400" b="1">
                <a:solidFill>
                  <a:srgbClr val="06B6D4"/>
                </a:solidFill>
              </a:defRPr>
            </a:pPr>
            <a:r>
              <a:t>✔ 💰 Zero Cloud Hosting Cost: </a:t>
            </a:r>
            <a:r>
              <a:rPr b="0">
                <a:solidFill>
                  <a:srgbClr val="F8FAFC"/>
                </a:solidFill>
              </a:rPr>
              <a:t>Server-side Python streaming ke muqable client-side WebAssembly me zero cloud server bills.</a:t>
            </a:r>
          </a:p>
          <a:p>
            <a:pPr>
              <a:spcBef>
                <a:spcPts val="1000"/>
              </a:spcBef>
              <a:defRPr sz="1400" b="1">
                <a:solidFill>
                  <a:srgbClr val="06B6D4"/>
                </a:solidFill>
              </a:defRPr>
            </a:pPr>
            <a:r>
              <a:t>✔ 🔒 High Student Privacy: </a:t>
            </a:r>
            <a:r>
              <a:rPr b="0">
                <a:solidFill>
                  <a:srgbClr val="F8FAFC"/>
                </a:solidFill>
              </a:rPr>
              <a:t>Student ka camera data device se bahar nahi jata, GDPR &amp; Data Privacy compliant.</a:t>
            </a:r>
          </a:p>
          <a:p>
            <a:pPr>
              <a:spcBef>
                <a:spcPts val="1000"/>
              </a:spcBef>
              <a:defRPr sz="1400" b="1">
                <a:solidFill>
                  <a:srgbClr val="06B6D4"/>
                </a:solidFill>
              </a:defRPr>
            </a:pPr>
            <a:r>
              <a:t>✔ ⚡ High-Speed Performance: </a:t>
            </a:r>
            <a:r>
              <a:rPr b="0">
                <a:solidFill>
                  <a:srgbClr val="F8FAFC"/>
                </a:solidFill>
              </a:rPr>
              <a:t>Sub-30ms latency ke sath 60 FPS par smooth execution, standard student laptops par bhi smoothly chalta hai.</a:t>
            </a:r>
          </a:p>
          <a:p>
            <a:pPr>
              <a:spcBef>
                <a:spcPts val="1000"/>
              </a:spcBef>
              <a:defRPr sz="1400" b="1">
                <a:solidFill>
                  <a:srgbClr val="06B6D4"/>
                </a:solidFill>
              </a:defRPr>
            </a:pPr>
            <a:r>
              <a:t>✔ 🚫 Anti-False-Positive Filter: </a:t>
            </a:r>
            <a:r>
              <a:rPr b="0">
                <a:solidFill>
                  <a:srgbClr val="F8FAFC"/>
                </a:solidFill>
              </a:rPr>
              <a:t>Blinking ya sneeze karne par penalty nahi lagti, 2.5 second ka temporal smoothing grace period hai.</a:t>
            </a:r>
          </a:p>
          <a:p>
            <a:pPr>
              <a:spcBef>
                <a:spcPts val="1000"/>
              </a:spcBef>
              <a:defRPr sz="1400" b="1">
                <a:solidFill>
                  <a:srgbClr val="06B6D4"/>
                </a:solidFill>
              </a:defRPr>
            </a:pPr>
            <a:r>
              <a:t>✔ 🖨️ Complete Automated Reporting: </a:t>
            </a:r>
            <a:r>
              <a:rPr b="0">
                <a:solidFill>
                  <a:srgbClr val="F8FAFC"/>
                </a:solidFill>
              </a:rPr>
              <a:t>Human verification ke liye ready watermarked snapshots aur PDF audit reports.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320040"/>
          </a:xfrm>
          <a:prstGeom prst="rect">
            <a:avLst/>
          </a:prstGeom>
          <a:noFill/>
        </p:spPr>
        <p:txBody>
          <a:bodyPr wrap="square">
            <a:spAutoFit/>
          </a:bodyPr>
          <a:lstStyle/>
          <a:p>
            <a:pPr>
              <a:defRPr sz="1100" b="1">
                <a:solidFill>
                  <a:srgbClr val="06B6D4"/>
                </a:solidFill>
                <a:latin typeface="Segoe UI"/>
              </a:defRPr>
            </a:pPr>
            <a:r>
              <a:t>SUMMARY &amp; NEXT STEPS</a:t>
            </a:r>
          </a:p>
        </p:txBody>
      </p:sp>
      <p:sp>
        <p:nvSpPr>
          <p:cNvPr id="4" name="TextBox 3"/>
          <p:cNvSpPr txBox="1"/>
          <p:nvPr/>
        </p:nvSpPr>
        <p:spPr>
          <a:xfrm>
            <a:off x="731520" y="685800"/>
            <a:ext cx="10698480" cy="731520"/>
          </a:xfrm>
          <a:prstGeom prst="rect">
            <a:avLst/>
          </a:prstGeom>
          <a:noFill/>
        </p:spPr>
        <p:txBody>
          <a:bodyPr wrap="square">
            <a:spAutoFit/>
          </a:bodyPr>
          <a:lstStyle/>
          <a:p>
            <a:pPr>
              <a:defRPr sz="2600" b="1">
                <a:solidFill>
                  <a:srgbClr val="F8FAFC"/>
                </a:solidFill>
                <a:latin typeface="Segoe UI"/>
              </a:defRPr>
            </a:pPr>
            <a:r>
              <a:t>Conclusion &amp; Future Enhancements</a:t>
            </a:r>
          </a:p>
        </p:txBody>
      </p:sp>
      <p:sp>
        <p:nvSpPr>
          <p:cNvPr id="5" name="Rounded Rectangle 4"/>
          <p:cNvSpPr/>
          <p:nvPr/>
        </p:nvSpPr>
        <p:spPr>
          <a:xfrm>
            <a:off x="731520" y="1645920"/>
            <a:ext cx="5212080" cy="4389120"/>
          </a:xfrm>
          <a:prstGeom prst="roundRect">
            <a:avLst/>
          </a:prstGeom>
          <a:solidFill>
            <a:srgbClr val="161E35"/>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920240"/>
            <a:ext cx="4663440" cy="3840480"/>
          </a:xfrm>
          <a:prstGeom prst="rect">
            <a:avLst/>
          </a:prstGeom>
          <a:noFill/>
        </p:spPr>
        <p:txBody>
          <a:bodyPr wrap="square">
            <a:spAutoFit/>
          </a:bodyPr>
          <a:lstStyle/>
          <a:p>
            <a:pPr>
              <a:defRPr sz="1800" b="1">
                <a:solidFill>
                  <a:srgbClr val="06B6D4"/>
                </a:solidFill>
              </a:defRPr>
            </a:pPr>
            <a:r>
              <a:t>🏁 Conclusion</a:t>
            </a:r>
          </a:p>
          <a:p>
            <a:pPr>
              <a:spcBef>
                <a:spcPts val="1400"/>
              </a:spcBef>
              <a:defRPr sz="1300">
                <a:solidFill>
                  <a:srgbClr val="F8FAFC"/>
                </a:solidFill>
              </a:defRPr>
            </a:pPr>
            <a:r>
              <a:t>• Sentinel AI demonstrates a fully functional, browser-based online exam proctoring solution.</a:t>
            </a:r>
          </a:p>
          <a:p>
            <a:pPr>
              <a:spcBef>
                <a:spcPts val="1400"/>
              </a:spcBef>
              <a:defRPr sz="1300">
                <a:solidFill>
                  <a:srgbClr val="F8FAFC"/>
                </a:solidFill>
              </a:defRPr>
            </a:pPr>
            <a:r>
              <a:t>• Computer vision aur acoustic analysis ka combination 95%+ accuracy ke sath cheating patterns ko detect karta hai.</a:t>
            </a:r>
          </a:p>
          <a:p>
            <a:pPr>
              <a:spcBef>
                <a:spcPts val="1400"/>
              </a:spcBef>
              <a:defRPr sz="1300">
                <a:solidFill>
                  <a:srgbClr val="F8FAFC"/>
                </a:solidFill>
              </a:defRPr>
            </a:pPr>
            <a:r>
              <a:t>• Yeh educational institutions ko bina expensive invigilation costs ke trustworthy online exams conduct karne me madad karta hai.</a:t>
            </a:r>
          </a:p>
        </p:txBody>
      </p:sp>
      <p:sp>
        <p:nvSpPr>
          <p:cNvPr id="7" name="Rounded Rectangle 6"/>
          <p:cNvSpPr/>
          <p:nvPr/>
        </p:nvSpPr>
        <p:spPr>
          <a:xfrm>
            <a:off x="6217920" y="1645920"/>
            <a:ext cx="5212080" cy="4389120"/>
          </a:xfrm>
          <a:prstGeom prst="roundRect">
            <a:avLst/>
          </a:prstGeom>
          <a:solidFill>
            <a:srgbClr val="161E35"/>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920240"/>
            <a:ext cx="4663440" cy="3840480"/>
          </a:xfrm>
          <a:prstGeom prst="rect">
            <a:avLst/>
          </a:prstGeom>
          <a:noFill/>
        </p:spPr>
        <p:txBody>
          <a:bodyPr wrap="square">
            <a:spAutoFit/>
          </a:bodyPr>
          <a:lstStyle/>
          <a:p>
            <a:pPr>
              <a:defRPr sz="1800" b="1">
                <a:solidFill>
                  <a:srgbClr val="10B981"/>
                </a:solidFill>
              </a:defRPr>
            </a:pPr>
            <a:r>
              <a:t>🔮 Future Enhancements</a:t>
            </a:r>
          </a:p>
          <a:p>
            <a:pPr>
              <a:spcBef>
                <a:spcPts val="1400"/>
              </a:spcBef>
              <a:defRPr sz="1300">
                <a:solidFill>
                  <a:srgbClr val="F8FAFC"/>
                </a:solidFill>
              </a:defRPr>
            </a:pPr>
            <a:r>
              <a:t>• LMS Integration: Moodle, Canvas, aur Google Classroom ke sath direct single-sign-on integration.</a:t>
            </a:r>
          </a:p>
          <a:p>
            <a:pPr>
              <a:spcBef>
                <a:spcPts val="1400"/>
              </a:spcBef>
              <a:defRPr sz="1300">
                <a:solidFill>
                  <a:srgbClr val="F8FAFC"/>
                </a:solidFill>
              </a:defRPr>
            </a:pPr>
            <a:r>
              <a:t>• Dual-Camera Monitoring: Student ke mobile ko secondary 360-degree room camera ke roop me connect karna.</a:t>
            </a:r>
          </a:p>
          <a:p>
            <a:pPr>
              <a:spcBef>
                <a:spcPts val="1400"/>
              </a:spcBef>
              <a:defRPr sz="1300">
                <a:solidFill>
                  <a:srgbClr val="F8FAFC"/>
                </a:solidFill>
              </a:defRPr>
            </a:pPr>
            <a:r>
              <a:t>• Biometric Authentication: Exam shuru hone par candidate ka photo ID aur face matching verification.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3</cp:revision>
  <dcterms:created xsi:type="dcterms:W3CDTF">2013-01-27T09:14:16Z</dcterms:created>
  <dcterms:modified xsi:type="dcterms:W3CDTF">2026-10-12T16:44:37Z</dcterms:modified>
  <cp:category/>
</cp:coreProperties>
</file>